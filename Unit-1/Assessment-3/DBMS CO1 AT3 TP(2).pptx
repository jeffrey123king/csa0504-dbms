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78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C3FD-AA14-CEBF-C5CF-C543496AB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43C94-DF9F-0FCE-EE30-DC9159891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46B7-7139-DF57-B28D-A3ED31432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6BD66-F7AE-C3CC-F937-35D770FE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54B-85A2-35DB-FEAF-175BF00E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22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419CC-269E-FDB2-CD41-5988C657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9FA42-7F78-E1CD-5EE0-D05FE7861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75072-6774-6630-5849-F5870DA56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AC7D5-35A0-76B7-854B-AC7F4325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90D06-5702-A36E-5FE4-C55CD52D0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37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2A8AE-6E73-2518-8B2A-42821A696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7DA5C-C146-A2D1-DCED-084B74257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FDCCA-134C-F77B-A26C-9ACA9867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7BF84-9C8E-440C-1EC8-0A53F5FD6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05221-4B27-550B-5441-763DF8C0E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1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8DFD-3352-D6D5-6062-C15C12B0A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F302A-704B-7752-F1CC-8475803B8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063B6-AB1B-2B89-7FB3-1BFA401F3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8EA6E-F63D-4667-442D-3E08C9FE4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AD94C-3861-06B0-3717-498A9063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9D38E-297D-8183-28EF-08163697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86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EBCE9-5323-F61C-D77A-1C9E1BB9C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BDA55-0A9A-0720-51BE-0506C9DB2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D0173-F571-D59A-6CB3-B95D0AE3E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1E786-96F1-2DA0-2A0F-8AFEE716A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4E34FA-E529-64CC-8FED-1FC8EFAC3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4AD5A-AABD-8279-C4E0-339B4911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091819-3004-EC6A-F9A5-4CED528A9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1D32F0-9A50-E23F-BC0C-D5BAACA6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210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06A9F-9B74-FA84-032A-999B26C5D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420885-7863-92D1-DD1C-BDA61A8BF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1D1C9-DBD2-C6DA-D93E-72499B54F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C37C8-ADEB-9703-22CC-B7E1790B9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31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45C3CD-4E04-94AF-6EAA-96442A1CE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618E6D-7D53-2383-B24F-F8542E677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E1F88-A97B-A83A-6219-25593D92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22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D0E3-D6AA-FB34-13B9-51650B868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14FC2-4B90-0B62-2BCC-B310C9758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D4A82-A12D-C7F4-1671-337267CCA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0031A-1A22-4942-528A-184DD5F6D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1E3B5-ED1C-D5B0-F63C-1299E1D6E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405DC-917A-674C-4D44-8545AAA4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06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D869-9276-63CF-AE6F-2A20B9F56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BB8F1D-B1FF-CD09-6113-CB728DD20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ADB42-9559-5C36-7764-117FFCB67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146B3-E0F1-ABA6-7C82-E40F05086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701AF-5036-2D35-EA91-36ED470A5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47DA0-770D-323B-83E5-14B71B2E3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94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AA801-86D4-8D2C-22D2-F09C89B99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CCF51-1C28-8729-3000-1BFA02282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798DA-928B-4BA7-0501-198664B9B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5405C-26C3-7B77-B028-27B89F593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9B4CF-5E5E-0EA4-BAD7-EDF7318CD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312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0DED5E-CA68-41B3-2C07-211DD9AE51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BEB50-42B4-5F9C-4DCB-C2EB764F7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872D3-C5F5-67A4-E68B-B5456731E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584A-86A4-8CF6-38DA-1E08274BA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275FD-DB0A-4161-FA5C-D57019B12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16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13432B-1CD8-0700-3FD1-DA9DBE2BF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58008-257F-2629-2F99-38B9CFEC2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DC8EF-E9B4-BDEE-E2A6-25A0F54B0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36ADF-6A25-620F-CF8A-0C347D438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930E1-72EA-6EC7-FEAA-5F6A61462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40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00475" y="2228418"/>
            <a:ext cx="3343864" cy="8771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5700" b="1" spc="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 AT-3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0368" y="3235692"/>
            <a:ext cx="9227141" cy="8771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5700" b="1" spc="-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</a:t>
            </a:r>
            <a:r>
              <a:rPr lang="en-US" sz="5700" b="1" spc="-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700" b="1" spc="-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4794" y="4607072"/>
            <a:ext cx="4231412" cy="18466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just"/>
            <a:r>
              <a:rPr lang="en-US" sz="3000" spc="-14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E.Jeffrey</a:t>
            </a:r>
            <a:r>
              <a:rPr lang="en-US" sz="3000" spc="-1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Samuels</a:t>
            </a:r>
          </a:p>
          <a:p>
            <a:pPr algn="just"/>
            <a:r>
              <a:rPr lang="en-US" sz="3000" spc="-1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192524412</a:t>
            </a:r>
          </a:p>
          <a:p>
            <a:pPr algn="just"/>
            <a:r>
              <a:rPr lang="en-US" sz="3000" spc="-14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3000" spc="-1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AI&amp;DS</a:t>
            </a:r>
          </a:p>
          <a:p>
            <a:pPr algn="just"/>
            <a:r>
              <a:rPr lang="en-IN" sz="3000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 - 0504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" y="438150"/>
            <a:ext cx="9886950" cy="806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34877" y="2593657"/>
            <a:ext cx="9173096" cy="984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200" b="1" spc="-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Create and present an ER diagram for an </a:t>
            </a:r>
            <a:r>
              <a:rPr lang="en-US" sz="3200" b="1" spc="-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Library System, explaining each </a:t>
            </a:r>
            <a:r>
              <a:rPr lang="en-IN" sz="3200" b="1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clearly.</a:t>
            </a:r>
            <a:endParaRPr lang="en-US" sz="3200" b="1" spc="-9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31757" y="583664"/>
            <a:ext cx="7997126" cy="64633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200" b="1" spc="-198" dirty="0">
                <a:latin typeface="Times New Roman" panose="02020603050405020304" pitchFamily="18" charset="0"/>
              </a:rPr>
              <a:t>Introduction to Online Library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380" y="2400270"/>
            <a:ext cx="8371010" cy="4001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sz="2600" spc="17" dirty="0">
                <a:latin typeface="Times New Roman" panose="02020603050405020304" pitchFamily="18" charset="0"/>
              </a:rPr>
              <a:t>An Online Library System manages books, members, and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550" y="2796510"/>
            <a:ext cx="2774414" cy="4001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600" spc="-24" dirty="0">
                <a:latin typeface="Times New Roman" panose="02020603050405020304" pitchFamily="18" charset="0"/>
              </a:rPr>
              <a:t> </a:t>
            </a:r>
            <a:r>
              <a:rPr sz="2600" spc="-24" dirty="0">
                <a:latin typeface="Times New Roman" panose="02020603050405020304" pitchFamily="18" charset="0"/>
              </a:rPr>
              <a:t>borrowing activities.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380" y="3321020"/>
            <a:ext cx="8260018" cy="4001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sz="2600" spc="-1" dirty="0">
                <a:latin typeface="Times New Roman" panose="02020603050405020304" pitchFamily="18" charset="0"/>
              </a:rPr>
              <a:t>The ER diagram represents the database structure visually.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380" y="3842989"/>
            <a:ext cx="6740243" cy="4001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sz="2600" spc="-32" dirty="0">
                <a:latin typeface="Times New Roman" panose="02020603050405020304" pitchFamily="18" charset="0"/>
              </a:rPr>
              <a:t>It identifies entities, attributes, and relationships.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380" y="4366865"/>
            <a:ext cx="7564315" cy="4001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sz="2600" spc="46" dirty="0">
                <a:latin typeface="Times New Roman" panose="02020603050405020304" pitchFamily="18" charset="0"/>
              </a:rPr>
              <a:t>It helps design an efficient and organized database.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380" y="4891375"/>
            <a:ext cx="8820941" cy="4001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sz="2600" spc="24" dirty="0">
                <a:latin typeface="Times New Roman" panose="02020603050405020304" pitchFamily="18" charset="0"/>
              </a:rPr>
              <a:t>It minimizes data redundancy and improves data consistency.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24000" y="455652"/>
            <a:ext cx="7650299" cy="55399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3600" b="1" spc="-161" dirty="0">
                <a:latin typeface="Times New Roman" panose="02020603050405020304" pitchFamily="18" charset="0"/>
              </a:rPr>
              <a:t>ER Diagram for an Online Library System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1244600"/>
            <a:ext cx="10128250" cy="535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16909" y="546061"/>
            <a:ext cx="4358181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215" dirty="0">
                <a:latin typeface="Times New Roman" panose="02020603050405020304" pitchFamily="18" charset="0"/>
              </a:rPr>
              <a:t>Entities and 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809" y="1750477"/>
            <a:ext cx="163217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sz="2000" b="1" spc="-120" dirty="0">
                <a:latin typeface="Times New Roman" panose="02020603050405020304" pitchFamily="18" charset="0"/>
              </a:rPr>
              <a:t>Main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809" y="2180372"/>
            <a:ext cx="89633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sz="2000" spc="-12" dirty="0">
                <a:latin typeface="Times New Roman" panose="02020603050405020304" pitchFamily="18" charset="0"/>
              </a:rPr>
              <a:t>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809" y="2612807"/>
            <a:ext cx="123886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sz="2000" spc="33" dirty="0">
                <a:latin typeface="Times New Roman" panose="02020603050405020304" pitchFamily="18" charset="0"/>
              </a:rPr>
              <a:t>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809" y="3045876"/>
            <a:ext cx="117724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sz="2000" spc="-105" dirty="0">
                <a:latin typeface="Times New Roman" panose="02020603050405020304" pitchFamily="18" charset="0"/>
              </a:rPr>
              <a:t>Librarian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809" y="3475772"/>
            <a:ext cx="87004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sz="2000" spc="-7" dirty="0">
                <a:latin typeface="Times New Roman" panose="02020603050405020304" pitchFamily="18" charset="0"/>
              </a:rPr>
              <a:t>Loan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809" y="3908841"/>
            <a:ext cx="177939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sz="2000" b="1" spc="-101" dirty="0">
                <a:latin typeface="Times New Roman" panose="02020603050405020304" pitchFamily="18" charset="0"/>
              </a:rPr>
              <a:t>Key Attributes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809" y="4342546"/>
            <a:ext cx="394979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sz="2000" spc="-42" dirty="0">
                <a:latin typeface="Times New Roman" panose="02020603050405020304" pitchFamily="18" charset="0"/>
              </a:rPr>
              <a:t>Book: </a:t>
            </a:r>
            <a:r>
              <a:rPr sz="2000" spc="-42" dirty="0" err="1">
                <a:latin typeface="Times New Roman" panose="02020603050405020304" pitchFamily="18" charset="0"/>
              </a:rPr>
              <a:t>Book_ID</a:t>
            </a:r>
            <a:r>
              <a:rPr sz="2000" spc="-42" dirty="0">
                <a:latin typeface="Times New Roman" panose="02020603050405020304" pitchFamily="18" charset="0"/>
              </a:rPr>
              <a:t>, Title, Author, ISBN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809" y="4771807"/>
            <a:ext cx="414408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sz="2000" spc="13" dirty="0">
                <a:latin typeface="Times New Roman" panose="02020603050405020304" pitchFamily="18" charset="0"/>
              </a:rPr>
              <a:t>Member: </a:t>
            </a:r>
            <a:r>
              <a:rPr sz="2000" spc="13" dirty="0" err="1">
                <a:latin typeface="Times New Roman" panose="02020603050405020304" pitchFamily="18" charset="0"/>
              </a:rPr>
              <a:t>Member_ID</a:t>
            </a:r>
            <a:r>
              <a:rPr sz="2000" spc="13" dirty="0">
                <a:latin typeface="Times New Roman" panose="02020603050405020304" pitchFamily="18" charset="0"/>
              </a:rPr>
              <a:t>, Name,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809" y="5204876"/>
            <a:ext cx="367549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sz="2000" spc="-13" dirty="0">
                <a:latin typeface="Times New Roman" panose="02020603050405020304" pitchFamily="18" charset="0"/>
              </a:rPr>
              <a:t>Librarian: </a:t>
            </a:r>
            <a:r>
              <a:rPr sz="2000" spc="-13" dirty="0" err="1">
                <a:latin typeface="Times New Roman" panose="02020603050405020304" pitchFamily="18" charset="0"/>
              </a:rPr>
              <a:t>Employee_ID</a:t>
            </a:r>
            <a:r>
              <a:rPr sz="2000" spc="-13" dirty="0">
                <a:latin typeface="Times New Roman" panose="02020603050405020304" pitchFamily="18" charset="0"/>
              </a:rPr>
              <a:t>,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809" y="5637946"/>
            <a:ext cx="469269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sz="2000" spc="11" dirty="0">
                <a:latin typeface="Times New Roman" panose="02020603050405020304" pitchFamily="18" charset="0"/>
              </a:rPr>
              <a:t>Loan: </a:t>
            </a:r>
            <a:r>
              <a:rPr sz="2000" spc="11" dirty="0" err="1">
                <a:latin typeface="Times New Roman" panose="02020603050405020304" pitchFamily="18" charset="0"/>
              </a:rPr>
              <a:t>Loan_ID</a:t>
            </a:r>
            <a:r>
              <a:rPr sz="2000" spc="11" dirty="0">
                <a:latin typeface="Times New Roman" panose="02020603050405020304" pitchFamily="18" charset="0"/>
              </a:rPr>
              <a:t>, </a:t>
            </a:r>
            <a:r>
              <a:rPr sz="2000" spc="11" dirty="0" err="1">
                <a:latin typeface="Times New Roman" panose="02020603050405020304" pitchFamily="18" charset="0"/>
              </a:rPr>
              <a:t>Issue_Date</a:t>
            </a:r>
            <a:r>
              <a:rPr sz="2000" spc="11" dirty="0">
                <a:latin typeface="Times New Roman" panose="02020603050405020304" pitchFamily="18" charset="0"/>
              </a:rPr>
              <a:t>, </a:t>
            </a:r>
            <a:r>
              <a:rPr sz="2000" spc="11" dirty="0" err="1">
                <a:latin typeface="Times New Roman" panose="02020603050405020304" pitchFamily="18" charset="0"/>
              </a:rPr>
              <a:t>Return_Date</a:t>
            </a:r>
            <a:endParaRPr sz="2000" spc="1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32565" y="370821"/>
            <a:ext cx="5809860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79" dirty="0">
                <a:latin typeface="Times New Roman" panose="02020603050405020304" pitchFamily="18" charset="0"/>
              </a:rPr>
              <a:t>Relationships in ER 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8480" y="1855886"/>
            <a:ext cx="323857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2000" b="1" spc="-82" dirty="0">
                <a:latin typeface="Times New Roman" panose="02020603050405020304" pitchFamily="18" charset="0"/>
              </a:rPr>
              <a:t>Relationships among 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8480" y="2285782"/>
            <a:ext cx="375974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3" dirty="0">
                <a:latin typeface="Times New Roman" panose="02020603050405020304" pitchFamily="18" charset="0"/>
              </a:rPr>
              <a:t>A Member borrows many Books.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8580" y="2237671"/>
            <a:ext cx="943463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>
            <a:spAutoFit/>
          </a:bodyPr>
          <a:lstStyle/>
          <a:p>
            <a:r>
              <a:rPr sz="1800" spc="-103" dirty="0">
                <a:latin typeface="Times New Roman" panose="02020603050405020304" pitchFamily="18" charset="0"/>
              </a:rPr>
              <a:t>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0350" y="2511355"/>
            <a:ext cx="72520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>
            <a:spAutoFit/>
          </a:bodyPr>
          <a:lstStyle/>
          <a:p>
            <a:r>
              <a:rPr sz="1800" spc="203" dirty="0">
                <a:latin typeface="Times New Roman" panose="02020603050405020304" pitchFamily="18" charset="0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480" y="2719486"/>
            <a:ext cx="644195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20" dirty="0">
                <a:latin typeface="Times New Roman" panose="02020603050405020304" pitchFamily="18" charset="0"/>
              </a:rPr>
              <a:t>A Book can be borrowed by different Members over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92080" y="2786311"/>
            <a:ext cx="711605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>
            <a:spAutoFit/>
          </a:bodyPr>
          <a:lstStyle/>
          <a:p>
            <a:r>
              <a:rPr sz="1800" spc="-93" dirty="0">
                <a:latin typeface="Times New Roman" panose="02020603050405020304" pitchFamily="18" charset="0"/>
              </a:rPr>
              <a:t>Borrows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480" y="3151922"/>
            <a:ext cx="478817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6" dirty="0">
                <a:latin typeface="Times New Roman" panose="02020603050405020304" pitchFamily="18" charset="0"/>
              </a:rPr>
              <a:t>A Librarian manages book issue and return.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0350" y="3060630"/>
            <a:ext cx="72520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>
            <a:spAutoFit/>
          </a:bodyPr>
          <a:lstStyle/>
          <a:p>
            <a:r>
              <a:rPr sz="1800" spc="203" dirty="0">
                <a:latin typeface="Times New Roman" panose="02020603050405020304" pitchFamily="18" charset="0"/>
              </a:rP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2550" y="3361924"/>
            <a:ext cx="66947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>
            <a:spAutoFit/>
          </a:bodyPr>
          <a:lstStyle/>
          <a:p>
            <a:r>
              <a:rPr sz="1800" spc="27" dirty="0">
                <a:latin typeface="Times New Roman" panose="02020603050405020304" pitchFamily="18" charset="0"/>
              </a:rPr>
              <a:t>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480" y="3581817"/>
            <a:ext cx="4389022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4" dirty="0">
                <a:latin typeface="Times New Roman" panose="02020603050405020304" pitchFamily="18" charset="0"/>
              </a:rPr>
              <a:t>A Loan records borrowing transactions.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28580" y="3883591"/>
            <a:ext cx="66947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>
            <a:spAutoFit/>
          </a:bodyPr>
          <a:lstStyle/>
          <a:p>
            <a:r>
              <a:rPr sz="1800" spc="27" dirty="0">
                <a:latin typeface="Times New Roman" panose="02020603050405020304" pitchFamily="18" charset="0"/>
              </a:rPr>
              <a:t>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480" y="4014886"/>
            <a:ext cx="4617931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5" dirty="0">
                <a:latin typeface="Times New Roman" panose="02020603050405020304" pitchFamily="18" charset="0"/>
              </a:rPr>
              <a:t>Relationships define how entities interact.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0350" y="4157911"/>
            <a:ext cx="72520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>
            <a:spAutoFit/>
          </a:bodyPr>
          <a:lstStyle/>
          <a:p>
            <a:r>
              <a:rPr sz="1800" spc="203" dirty="0">
                <a:latin typeface="Times New Roman" panose="02020603050405020304" pitchFamily="18" charset="0"/>
              </a:rPr>
              <a:t>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8580" y="4432231"/>
            <a:ext cx="119276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>
            <a:spAutoFit/>
          </a:bodyPr>
          <a:lstStyle/>
          <a:p>
            <a:r>
              <a:rPr sz="1800" spc="41" dirty="0">
                <a:latin typeface="Times New Roman" panose="02020603050405020304" pitchFamily="18" charset="0"/>
              </a:rPr>
              <a:t>Recorded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0350" y="4707821"/>
            <a:ext cx="72520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>
            <a:spAutoFit/>
          </a:bodyPr>
          <a:lstStyle/>
          <a:p>
            <a:r>
              <a:rPr sz="1800" spc="203" dirty="0">
                <a:latin typeface="Times New Roman" panose="02020603050405020304" pitchFamily="18" charset="0"/>
              </a:rPr>
              <a:t>|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92080" y="4981505"/>
            <a:ext cx="63716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>
            <a:spAutoFit/>
          </a:bodyPr>
          <a:lstStyle/>
          <a:p>
            <a:r>
              <a:rPr sz="1800" spc="-36" dirty="0">
                <a:latin typeface="Times New Roman" panose="02020603050405020304" pitchFamily="18" charset="0"/>
              </a:rPr>
              <a:t>LOAN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04774" y="442644"/>
            <a:ext cx="6672404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6" dirty="0">
                <a:latin typeface="Times New Roman" panose="02020603050405020304" pitchFamily="18" charset="0"/>
              </a:rPr>
              <a:t>Advantages and Complete ER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735" y="1162119"/>
            <a:ext cx="1835695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14" dirty="0">
                <a:latin typeface="Times New Roman" panose="02020603050405020304" pitchFamily="18" charset="0"/>
              </a:rPr>
              <a:t>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070" y="2522171"/>
            <a:ext cx="2719334" cy="2312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2000" b="1" spc="-85" dirty="0">
                <a:latin typeface="Times New Roman" panose="02020603050405020304" pitchFamily="18" charset="0"/>
              </a:rPr>
              <a:t>Benefits of ER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5070" y="2952701"/>
            <a:ext cx="3197542" cy="2312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7" dirty="0">
                <a:latin typeface="Times New Roman" panose="02020603050405020304" pitchFamily="18" charset="0"/>
              </a:rPr>
              <a:t>Simplifies database design.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8759" y="2856795"/>
            <a:ext cx="351698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0" dirty="0">
                <a:latin typeface="Times New Roman" panose="02020603050405020304" pitchFamily="18" charset="0"/>
              </a:rPr>
              <a:t>MEMBER -------- BORROWS --------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5070" y="3385135"/>
            <a:ext cx="3010504" cy="2312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81" dirty="0">
                <a:latin typeface="Times New Roman" panose="02020603050405020304" pitchFamily="18" charset="0"/>
              </a:rPr>
              <a:t>Reduces duplicate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8759" y="3131751"/>
            <a:ext cx="66947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27" dirty="0">
                <a:latin typeface="Times New Roman" panose="02020603050405020304" pitchFamily="18" charset="0"/>
              </a:rPr>
              <a:t>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5070" y="3818840"/>
            <a:ext cx="2713628" cy="2312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spc="-3" dirty="0">
                <a:latin typeface="Times New Roman" panose="02020603050405020304" pitchFamily="18" charset="0"/>
              </a:rPr>
              <a:t>I</a:t>
            </a:r>
            <a:r>
              <a:rPr sz="2000" spc="-3" dirty="0" err="1">
                <a:latin typeface="Times New Roman" panose="02020603050405020304" pitchFamily="18" charset="0"/>
              </a:rPr>
              <a:t>mproves</a:t>
            </a:r>
            <a:r>
              <a:rPr sz="2000" spc="-3" dirty="0">
                <a:latin typeface="Times New Roman" panose="02020603050405020304" pitchFamily="18" charset="0"/>
              </a:rPr>
              <a:t> data integrity.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0530" y="3406071"/>
            <a:ext cx="209198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66" dirty="0">
                <a:latin typeface="Times New Roman" panose="02020603050405020304" pitchFamily="18" charset="0"/>
              </a:rPr>
              <a:t>|                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0530" y="3680391"/>
            <a:ext cx="209198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66" dirty="0">
                <a:latin typeface="Times New Roman" panose="02020603050405020304" pitchFamily="18" charset="0"/>
              </a:rPr>
              <a:t>|                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5070" y="4248100"/>
            <a:ext cx="4945906" cy="2312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21" dirty="0">
                <a:latin typeface="Times New Roman" panose="02020603050405020304" pitchFamily="18" charset="0"/>
              </a:rPr>
              <a:t>Makes future database modifications easier.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0530" y="3954711"/>
            <a:ext cx="325294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12" dirty="0">
                <a:latin typeface="Times New Roman" panose="02020603050405020304" pitchFamily="18" charset="0"/>
              </a:rPr>
              <a:t>-------- LOAN -------- LIBRARIAN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5070" y="4681170"/>
            <a:ext cx="4033540" cy="2312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1" dirty="0">
                <a:latin typeface="Times New Roman" panose="02020603050405020304" pitchFamily="18" charset="0"/>
              </a:rPr>
              <a:t>Supports efficient query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32034" y="2044859"/>
            <a:ext cx="9493433" cy="600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3900" b="1" spc="-93" dirty="0">
                <a:latin typeface="Times New Roman" panose="02020603050405020304" pitchFamily="18" charset="0"/>
              </a:rPr>
              <a:t>Q2. Prepare a presentation on the EER model,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8920" y="2726330"/>
            <a:ext cx="6888232" cy="600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3900" b="1" spc="-103" dirty="0">
                <a:latin typeface="Times New Roman" panose="02020603050405020304" pitchFamily="18" charset="0"/>
              </a:rPr>
              <a:t>demonstrating generalization and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8920" y="3298904"/>
            <a:ext cx="8430962" cy="600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3900" b="1" spc="-116" dirty="0">
                <a:latin typeface="Times New Roman" panose="02020603050405020304" pitchFamily="18" charset="0"/>
              </a:rPr>
              <a:t>specialization with a University case study.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01155" y="486371"/>
            <a:ext cx="5471370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80" dirty="0">
                <a:latin typeface="Times New Roman" panose="02020603050405020304" pitchFamily="18" charset="0"/>
              </a:rPr>
              <a:t>Introduction to EER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020" y="1819285"/>
            <a:ext cx="7969169" cy="5232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sz="3400" b="1" spc="-133" dirty="0">
                <a:latin typeface="Times New Roman" panose="02020603050405020304" pitchFamily="18" charset="0"/>
              </a:rPr>
              <a:t>Enhanced Entity Relationship (EER)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020" y="2461905"/>
            <a:ext cx="7028078" cy="5232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400" spc="-11" dirty="0">
                <a:latin typeface="Times New Roman" panose="02020603050405020304" pitchFamily="18" charset="0"/>
              </a:rPr>
              <a:t>EER is an extension of the ER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898" y="3108335"/>
            <a:ext cx="8352223" cy="5232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400" spc="51" dirty="0">
                <a:latin typeface="Times New Roman" panose="02020603050405020304" pitchFamily="18" charset="0"/>
              </a:rPr>
              <a:t>It supports more complex database designs.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020" y="3755400"/>
            <a:ext cx="8813118" cy="5232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400" spc="7" dirty="0">
                <a:latin typeface="Times New Roman" panose="02020603050405020304" pitchFamily="18" charset="0"/>
              </a:rPr>
              <a:t>It introduces Generalization and Specialization.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020" y="4398655"/>
            <a:ext cx="6989862" cy="5232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400" spc="13" dirty="0">
                <a:latin typeface="Times New Roman" panose="02020603050405020304" pitchFamily="18" charset="0"/>
              </a:rPr>
              <a:t>It models inheritance among entities.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020" y="5045085"/>
            <a:ext cx="9277348" cy="5232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400" spc="2" dirty="0">
                <a:latin typeface="Times New Roman" panose="02020603050405020304" pitchFamily="18" charset="0"/>
              </a:rPr>
              <a:t>It represents real-world scenarios more accurately.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58334" y="263723"/>
            <a:ext cx="3001527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38" dirty="0">
                <a:latin typeface="Times New Roman" panose="02020603050405020304" pitchFamily="18" charset="0"/>
              </a:rPr>
              <a:t>Generalization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40" y="1750477"/>
            <a:ext cx="2662011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57" dirty="0">
                <a:latin typeface="Times New Roman" panose="02020603050405020304" pitchFamily="18" charset="0"/>
              </a:rPr>
              <a:t>Bottom-up approach.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40" y="2180372"/>
            <a:ext cx="496424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12" dirty="0">
                <a:latin typeface="Times New Roman" panose="02020603050405020304" pitchFamily="18" charset="0"/>
              </a:rPr>
              <a:t>Combines similar entities into one superclass.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40" y="2612807"/>
            <a:ext cx="567815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30" dirty="0">
                <a:latin typeface="Times New Roman" panose="02020603050405020304" pitchFamily="18" charset="0"/>
              </a:rPr>
              <a:t>Common attributes are moved to the parent entity.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578031"/>
            <a:ext cx="81086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53" dirty="0">
                <a:latin typeface="Times New Roman" panose="02020603050405020304" pitchFamily="18" charset="0"/>
              </a:rPr>
              <a:t>Professor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82200" y="2853621"/>
            <a:ext cx="11971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IN" spc="571" dirty="0">
                <a:latin typeface="Times New Roman" panose="02020603050405020304" pitchFamily="18" charset="0"/>
              </a:rPr>
              <a:t>|</a:t>
            </a:r>
            <a:endParaRPr sz="1800" spc="571" dirty="0">
              <a:latin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8040" y="3045876"/>
            <a:ext cx="266867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60" dirty="0">
                <a:latin typeface="Times New Roman" panose="02020603050405020304" pitchFamily="18" charset="0"/>
              </a:rPr>
              <a:t>Reduces redundancy.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551" y="3070236"/>
            <a:ext cx="11971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IN" spc="571" dirty="0">
                <a:latin typeface="Times New Roman" panose="02020603050405020304" pitchFamily="18" charset="0"/>
              </a:rPr>
              <a:t>|</a:t>
            </a:r>
            <a:endParaRPr sz="1800" spc="571" dirty="0">
              <a:latin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8040" y="3475772"/>
            <a:ext cx="376083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25" dirty="0">
                <a:latin typeface="Times New Roman" panose="02020603050405020304" pitchFamily="18" charset="0"/>
              </a:rPr>
              <a:t>Improves database organization.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402261"/>
            <a:ext cx="119186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62" dirty="0">
                <a:latin typeface="Times New Roman" panose="02020603050405020304" pitchFamily="18" charset="0"/>
              </a:rPr>
              <a:t>Administrator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10470" y="3676580"/>
            <a:ext cx="11971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IN" spc="571" dirty="0">
                <a:latin typeface="Times New Roman" panose="02020603050405020304" pitchFamily="18" charset="0"/>
              </a:rPr>
              <a:t>|</a:t>
            </a:r>
            <a:endParaRPr sz="1800" spc="571" dirty="0">
              <a:latin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88912" y="3954283"/>
            <a:ext cx="96282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26" dirty="0">
                <a:latin typeface="Times New Roman" panose="02020603050405020304" pitchFamily="18" charset="0"/>
              </a:rPr>
              <a:t>Employee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40" y="4216370"/>
            <a:ext cx="2718821" cy="4001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600" b="1" spc="-101" dirty="0">
                <a:latin typeface="Times New Roman" panose="02020603050405020304" pitchFamily="18" charset="0"/>
              </a:rPr>
              <a:t>Common Attributes: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040" y="4738786"/>
            <a:ext cx="179664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0" dirty="0" err="1">
                <a:latin typeface="Times New Roman" panose="02020603050405020304" pitchFamily="18" charset="0"/>
              </a:rPr>
              <a:t>Employee_ID</a:t>
            </a:r>
            <a:endParaRPr sz="2000" spc="10" dirty="0">
              <a:latin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8040" y="5168682"/>
            <a:ext cx="94910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94" dirty="0">
                <a:latin typeface="Times New Roman" panose="02020603050405020304" pitchFamily="18" charset="0"/>
              </a:rPr>
              <a:t>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040" y="5601752"/>
            <a:ext cx="91101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-41" dirty="0">
                <a:latin typeface="Times New Roman" panose="02020603050405020304" pitchFamily="18" charset="0"/>
              </a:rPr>
              <a:t>Salary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0214" y="415228"/>
            <a:ext cx="2982355" cy="64633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200" b="1" spc="-121" dirty="0">
                <a:latin typeface="Times New Roman" panose="02020603050405020304" pitchFamily="18" charset="0"/>
              </a:rPr>
              <a:t>Specialization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8912"/>
            <a:ext cx="259904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58" dirty="0">
                <a:latin typeface="Times New Roman" panose="02020603050405020304" pitchFamily="18" charset="0"/>
              </a:rPr>
              <a:t>Top-down approach.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8807"/>
            <a:ext cx="512210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7" dirty="0">
                <a:latin typeface="Times New Roman" panose="02020603050405020304" pitchFamily="18" charset="0"/>
              </a:rPr>
              <a:t>Divides one entity into specialized subclasses.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1880" y="2623751"/>
            <a:ext cx="88575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28" dirty="0">
                <a:latin typeface="Times New Roman" panose="02020603050405020304" pitchFamily="18" charset="0"/>
              </a:rPr>
              <a:t>PERSON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91877"/>
            <a:ext cx="407271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1" dirty="0">
                <a:latin typeface="Times New Roman" panose="02020603050405020304" pitchFamily="18" charset="0"/>
              </a:rPr>
              <a:t>Each subclass has unique attributes.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0350" y="2898071"/>
            <a:ext cx="7252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203" dirty="0">
                <a:latin typeface="Times New Roman" panose="02020603050405020304" pitchFamily="18" charset="0"/>
              </a:rP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24946"/>
            <a:ext cx="336072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1" dirty="0">
                <a:latin typeface="Times New Roman" panose="02020603050405020304" pitchFamily="18" charset="0"/>
              </a:rPr>
              <a:t>Provides better classification.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6130" y="3172391"/>
            <a:ext cx="156183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1" dirty="0">
                <a:latin typeface="Times New Roman" panose="02020603050405020304" pitchFamily="18" charset="0"/>
              </a:rPr>
              <a:t>-------------------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3430" y="3446711"/>
            <a:ext cx="122180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40" dirty="0">
                <a:latin typeface="Times New Roman" panose="02020603050405020304" pitchFamily="18" charset="0"/>
              </a:rPr>
              <a:t>|    |    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54206"/>
            <a:ext cx="223894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600" spc="-190" dirty="0">
                <a:latin typeface="Noto Sans Symbols"/>
              </a:rPr>
              <a:t></a:t>
            </a:r>
            <a:r>
              <a:rPr sz="2000" spc="-6" dirty="0">
                <a:latin typeface="Times New Roman" panose="02020603050405020304" pitchFamily="18" charset="0"/>
              </a:rPr>
              <a:t>Supports inheritance.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4650" y="3721030"/>
            <a:ext cx="1963294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2" dirty="0">
                <a:latin typeface="Times New Roman" panose="02020603050405020304" pitchFamily="18" charset="0"/>
              </a:rPr>
              <a:t>Student Faculty Staff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92712"/>
            <a:ext cx="198804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b="1" spc="-98" dirty="0">
                <a:latin typeface="Times New Roman" panose="02020603050405020304" pitchFamily="18" charset="0"/>
              </a:rPr>
              <a:t>Example Attributes: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25782"/>
            <a:ext cx="202247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600" spc="-190" dirty="0">
                <a:latin typeface="Noto Sans Symbols"/>
              </a:rPr>
              <a:t></a:t>
            </a:r>
            <a:r>
              <a:rPr sz="2000" spc="63" dirty="0">
                <a:latin typeface="Times New Roman" panose="02020603050405020304" pitchFamily="18" charset="0"/>
              </a:rPr>
              <a:t>Student → CGPA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55676"/>
            <a:ext cx="204382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600" spc="-190" dirty="0">
                <a:latin typeface="Noto Sans Symbols"/>
              </a:rPr>
              <a:t></a:t>
            </a:r>
            <a:r>
              <a:rPr sz="2000" spc="20" dirty="0">
                <a:latin typeface="Times New Roman" panose="02020603050405020304" pitchFamily="18" charset="0"/>
              </a:rPr>
              <a:t>Faculty → Subject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88746"/>
            <a:ext cx="220938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600" spc="-190" dirty="0">
                <a:latin typeface="Noto Sans Symbols"/>
              </a:rPr>
              <a:t></a:t>
            </a:r>
            <a:r>
              <a:rPr sz="2000" spc="19" dirty="0">
                <a:latin typeface="Times New Roman" panose="02020603050405020304" pitchFamily="18" charset="0"/>
              </a:rPr>
              <a:t>Staff → Department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58938" y="347153"/>
            <a:ext cx="7384394" cy="64633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200" b="1" spc="-55" dirty="0">
                <a:latin typeface="Times New Roman" panose="02020603050405020304" pitchFamily="18" charset="0"/>
              </a:rPr>
              <a:t>Advantages and University Case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0323" y="984549"/>
            <a:ext cx="1226939" cy="64633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200" b="1" spc="-189" dirty="0">
                <a:latin typeface="Times New Roman" panose="02020603050405020304" pitchFamily="18" charset="0"/>
              </a:rPr>
              <a:t>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1750477"/>
            <a:ext cx="313957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2000" b="1" spc="-41" dirty="0">
                <a:latin typeface="Times New Roman" panose="02020603050405020304" pitchFamily="18" charset="0"/>
              </a:rPr>
              <a:t>Advantages of EER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640" y="2180372"/>
            <a:ext cx="383348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4" dirty="0">
                <a:latin typeface="Times New Roman" panose="02020603050405020304" pitchFamily="18" charset="0"/>
              </a:rPr>
              <a:t>Represents complex relationships.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800" y="2150041"/>
            <a:ext cx="88421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30" dirty="0">
                <a:latin typeface="Times New Roman" panose="02020603050405020304" pitchFamily="18" charset="0"/>
              </a:rPr>
              <a:t>PERSON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0" y="2424361"/>
            <a:ext cx="7252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203" dirty="0">
                <a:latin typeface="Times New Roman" panose="02020603050405020304" pitchFamily="18" charset="0"/>
              </a:rP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640" y="2612807"/>
            <a:ext cx="250267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7" dirty="0">
                <a:latin typeface="Times New Roman" panose="02020603050405020304" pitchFamily="18" charset="0"/>
              </a:rPr>
              <a:t>Supports inheritance.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180" y="2698681"/>
            <a:ext cx="205505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1" dirty="0">
                <a:latin typeface="Times New Roman" panose="02020603050405020304" pitchFamily="18" charset="0"/>
              </a:rPr>
              <a:t>-------------------------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640" y="3045876"/>
            <a:ext cx="317394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59" dirty="0">
                <a:latin typeface="Times New Roman" panose="02020603050405020304" pitchFamily="18" charset="0"/>
              </a:rPr>
              <a:t>Reduces data duplication.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7310" y="2973001"/>
            <a:ext cx="159755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398" dirty="0">
                <a:latin typeface="Times New Roman" panose="02020603050405020304" pitchFamily="18" charset="0"/>
              </a:rPr>
              <a:t>|      |      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530" y="3247321"/>
            <a:ext cx="234339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69" dirty="0">
                <a:latin typeface="Times New Roman" panose="02020603050405020304" pitchFamily="18" charset="0"/>
              </a:rPr>
              <a:t>Student  Faculty   Staff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640" y="3475772"/>
            <a:ext cx="225606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65" dirty="0">
                <a:latin typeface="Times New Roman" panose="02020603050405020304" pitchFamily="18" charset="0"/>
              </a:rPr>
              <a:t>Improves flexibility.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7310" y="3521641"/>
            <a:ext cx="166295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32" dirty="0">
                <a:latin typeface="Times New Roman" panose="02020603050405020304" pitchFamily="18" charset="0"/>
              </a:rPr>
              <a:t>|      |      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4140" y="3795961"/>
            <a:ext cx="169020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0" dirty="0">
                <a:latin typeface="Times New Roman" panose="02020603050405020304" pitchFamily="18" charset="0"/>
              </a:rPr>
              <a:t>Roll No  Subject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640" y="3908841"/>
            <a:ext cx="5093702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33" dirty="0">
                <a:latin typeface="Times New Roman" panose="02020603050405020304" pitchFamily="18" charset="0"/>
              </a:rPr>
              <a:t>Suitable for large organizations like universities.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0040" y="4071551"/>
            <a:ext cx="113107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32" dirty="0">
                <a:latin typeface="Times New Roman" panose="02020603050405020304" pitchFamily="18" charset="0"/>
              </a:rPr>
              <a:t>Department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612" y="4506333"/>
            <a:ext cx="105541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b="1" spc="-37" dirty="0">
                <a:latin typeface="Times New Roman" panose="02020603050405020304" pitchFamily="18" charset="0"/>
              </a:rPr>
              <a:t>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12" y="4843040"/>
            <a:ext cx="743434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54" dirty="0">
                <a:latin typeface="Times New Roman" panose="02020603050405020304" pitchFamily="18" charset="0"/>
              </a:rPr>
              <a:t>The EER model enhances the traditional ER model by introducing Generalization and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612" y="5230798"/>
            <a:ext cx="702339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40" dirty="0">
                <a:latin typeface="Times New Roman" panose="02020603050405020304" pitchFamily="18" charset="0"/>
              </a:rPr>
              <a:t>Specialization, making university database design more flexible, organized, and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612" y="5594270"/>
            <a:ext cx="72552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76" dirty="0">
                <a:latin typeface="Times New Roman" panose="02020603050405020304" pitchFamily="18" charset="0"/>
              </a:rPr>
              <a:t>efficient.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63429" y="2042966"/>
            <a:ext cx="6857968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25" dirty="0">
                <a:latin typeface="Times New Roman" panose="02020603050405020304" pitchFamily="18" charset="0"/>
              </a:rPr>
              <a:t>Q3. Present the concept of data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3429" y="2778323"/>
            <a:ext cx="7888763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2" dirty="0">
                <a:latin typeface="Times New Roman" panose="02020603050405020304" pitchFamily="18" charset="0"/>
              </a:rPr>
              <a:t>independence (logical and physical)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9444" y="3533736"/>
            <a:ext cx="8611203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18" dirty="0">
                <a:latin typeface="Times New Roman" panose="02020603050405020304" pitchFamily="18" charset="0"/>
              </a:rPr>
              <a:t>and its significance in DBMS architecture.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41862" y="513546"/>
            <a:ext cx="7386959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75" dirty="0">
                <a:latin typeface="Times New Roman" panose="02020603050405020304" pitchFamily="18" charset="0"/>
              </a:rPr>
              <a:t>Introduction to Data Independence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460" y="1750477"/>
            <a:ext cx="345607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2000" b="1" spc="-28" dirty="0">
                <a:latin typeface="Times New Roman" panose="02020603050405020304" pitchFamily="18" charset="0"/>
              </a:rPr>
              <a:t>Data Independence in DBMS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460" y="2180372"/>
            <a:ext cx="854817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35" dirty="0">
                <a:latin typeface="Times New Roman" panose="02020603050405020304" pitchFamily="18" charset="0"/>
              </a:rPr>
              <a:t>Data independence is the ability to modify one level of the database without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630" y="2485172"/>
            <a:ext cx="237776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spc="10" dirty="0">
                <a:latin typeface="Times New Roman" panose="02020603050405020304" pitchFamily="18" charset="0"/>
              </a:rPr>
              <a:t>affecting higher levels.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460" y="2918242"/>
            <a:ext cx="521963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41" dirty="0">
                <a:latin typeface="Times New Roman" panose="02020603050405020304" pitchFamily="18" charset="0"/>
              </a:rPr>
              <a:t>It separates logical and physical data storage.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0780" y="2950141"/>
            <a:ext cx="129035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42" dirty="0">
                <a:latin typeface="Times New Roman" panose="02020603050405020304" pitchFamily="18" charset="0"/>
              </a:rPr>
              <a:t>External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1780" y="3223826"/>
            <a:ext cx="18453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64" dirty="0">
                <a:latin typeface="Times New Roman" panose="02020603050405020304" pitchFamily="18" charset="0"/>
              </a:rPr>
              <a:t>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460" y="3350676"/>
            <a:ext cx="681885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4" dirty="0">
                <a:latin typeface="Times New Roman" panose="02020603050405020304" pitchFamily="18" charset="0"/>
              </a:rPr>
              <a:t>It is achieved using the ANSI/SPARC three-level architecture.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0780" y="3498780"/>
            <a:ext cx="124046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93" dirty="0">
                <a:latin typeface="Times New Roman" panose="02020603050405020304" pitchFamily="18" charset="0"/>
              </a:rPr>
              <a:t>Conceptual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460" y="3781206"/>
            <a:ext cx="444474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42" dirty="0">
                <a:latin typeface="Times New Roman" panose="02020603050405020304" pitchFamily="18" charset="0"/>
              </a:rPr>
              <a:t>It improves flexibility and maintainability.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0780" y="3773101"/>
            <a:ext cx="51039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24" dirty="0">
                <a:latin typeface="Times New Roman" panose="02020603050405020304" pitchFamily="18" charset="0"/>
              </a:rPr>
              <a:t>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1780" y="4047421"/>
            <a:ext cx="183384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55" dirty="0">
                <a:latin typeface="Times New Roman" panose="02020603050405020304" pitchFamily="18" charset="0"/>
              </a:rPr>
              <a:t>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460" y="4214276"/>
            <a:ext cx="5194051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40" dirty="0">
                <a:latin typeface="Times New Roman" panose="02020603050405020304" pitchFamily="18" charset="0"/>
              </a:rPr>
              <a:t>It reduces the cost of database modifications.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4280" y="4321741"/>
            <a:ext cx="122802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41" dirty="0">
                <a:latin typeface="Times New Roman" panose="02020603050405020304" pitchFamily="18" charset="0"/>
              </a:rPr>
              <a:t>Internal Level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61489" y="523439"/>
            <a:ext cx="6125972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8" dirty="0">
                <a:latin typeface="Times New Roman" panose="02020603050405020304" pitchFamily="18" charset="0"/>
              </a:rPr>
              <a:t>Physical Data Independence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270" y="1750477"/>
            <a:ext cx="339015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2000" b="1" spc="-14" dirty="0">
                <a:latin typeface="Times New Roman" panose="02020603050405020304" pitchFamily="18" charset="0"/>
              </a:rPr>
              <a:t>Physical Data Independence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270" y="2180372"/>
            <a:ext cx="635103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66" dirty="0">
                <a:latin typeface="Times New Roman" panose="02020603050405020304" pitchFamily="18" charset="0"/>
              </a:rPr>
              <a:t>Physical changes do not affect the conceptual schema.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170" y="2468811"/>
            <a:ext cx="118442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3" dirty="0">
                <a:latin typeface="Times New Roman" panose="02020603050405020304" pitchFamily="18" charset="0"/>
              </a:rPr>
              <a:t>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270" y="2612807"/>
            <a:ext cx="600266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47" dirty="0">
                <a:latin typeface="Times New Roman" panose="02020603050405020304" pitchFamily="18" charset="0"/>
              </a:rPr>
              <a:t>Storage devices or file organization can be changed.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8170" y="2743131"/>
            <a:ext cx="18453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64" dirty="0">
                <a:latin typeface="Times New Roman" panose="02020603050405020304" pitchFamily="18" charset="0"/>
              </a:rPr>
              <a:t>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270" y="3045876"/>
            <a:ext cx="329949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5" dirty="0">
                <a:latin typeface="Times New Roman" panose="02020603050405020304" pitchFamily="18" charset="0"/>
              </a:rPr>
              <a:t>Improves storage efficiency.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170" y="3018721"/>
            <a:ext cx="203863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91" dirty="0">
                <a:latin typeface="Times New Roman" panose="02020603050405020304" pitchFamily="18" charset="0"/>
              </a:rPr>
              <a:t>Conceptual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8170" y="3293041"/>
            <a:ext cx="18325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54" dirty="0">
                <a:latin typeface="Times New Roman" panose="02020603050405020304" pitchFamily="18" charset="0"/>
              </a:rPr>
              <a:t>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270" y="3475772"/>
            <a:ext cx="554369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23" dirty="0">
                <a:latin typeface="Times New Roman" panose="02020603050405020304" pitchFamily="18" charset="0"/>
              </a:rPr>
              <a:t>No changes are required in application programs.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170" y="3567361"/>
            <a:ext cx="151644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5" dirty="0">
                <a:latin typeface="Times New Roman" panose="02020603050405020304" pitchFamily="18" charset="0"/>
              </a:rPr>
              <a:t>Internal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270" y="3908841"/>
            <a:ext cx="366356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1" dirty="0">
                <a:latin typeface="Times New Roman" panose="02020603050405020304" pitchFamily="18" charset="0"/>
              </a:rPr>
              <a:t>Supported by the Internal Level.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8170" y="3841680"/>
            <a:ext cx="18325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54" dirty="0">
                <a:latin typeface="Times New Roman" panose="02020603050405020304" pitchFamily="18" charset="0"/>
              </a:rPr>
              <a:t>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170" y="4116001"/>
            <a:ext cx="113018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7" dirty="0">
                <a:latin typeface="Times New Roman" panose="02020603050405020304" pitchFamily="18" charset="0"/>
              </a:rPr>
              <a:t>SSD / HDD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270" y="4342546"/>
            <a:ext cx="127714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sz="2000" b="1" spc="-77" dirty="0">
                <a:latin typeface="Times New Roman" panose="02020603050405020304" pitchFamily="18" charset="0"/>
              </a:rPr>
              <a:t>Examples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270" y="4771807"/>
            <a:ext cx="297100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34" dirty="0">
                <a:latin typeface="Times New Roman" panose="02020603050405020304" pitchFamily="18" charset="0"/>
              </a:rPr>
              <a:t>Changing HDD to SSD.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270" y="5204876"/>
            <a:ext cx="220162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29" dirty="0">
                <a:latin typeface="Times New Roman" panose="02020603050405020304" pitchFamily="18" charset="0"/>
              </a:rPr>
              <a:t>Creating indexes.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270" y="5637946"/>
            <a:ext cx="333546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36" dirty="0">
                <a:latin typeface="Times New Roman" panose="02020603050405020304" pitchFamily="18" charset="0"/>
              </a:rPr>
              <a:t>Compressing database files.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20" y="523439"/>
            <a:ext cx="5979201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2" dirty="0">
                <a:latin typeface="Times New Roman" panose="02020603050405020304" pitchFamily="18" charset="0"/>
              </a:rPr>
              <a:t>Logical Data Independence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460" y="1870492"/>
            <a:ext cx="544527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45" dirty="0">
                <a:latin typeface="Times New Roman" panose="02020603050405020304" pitchFamily="18" charset="0"/>
              </a:rPr>
              <a:t>Logical changes do not affect user applications.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460" y="2300386"/>
            <a:ext cx="442736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48" dirty="0">
                <a:latin typeface="Times New Roman" panose="02020603050405020304" pitchFamily="18" charset="0"/>
              </a:rPr>
              <a:t>New tables or attributes can be added.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09530" y="2212271"/>
            <a:ext cx="71519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1" dirty="0">
                <a:latin typeface="Times New Roman" panose="02020603050405020304" pitchFamily="18" charset="0"/>
              </a:rPr>
              <a:t>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92080" y="2486591"/>
            <a:ext cx="738664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0" dirty="0">
                <a:latin typeface="Times New Roman" panose="02020603050405020304" pitchFamily="18" charset="0"/>
              </a:rPr>
              <a:t>---------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460" y="2733457"/>
            <a:ext cx="429476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-15" dirty="0">
                <a:latin typeface="Times New Roman" panose="02020603050405020304" pitchFamily="18" charset="0"/>
              </a:rPr>
              <a:t>Existing applications continue working.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20680" y="2760911"/>
            <a:ext cx="22057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90" dirty="0">
                <a:latin typeface="Times New Roman" panose="02020603050405020304" pitchFamily="18" charset="0"/>
              </a:rPr>
              <a:t>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92080" y="3035230"/>
            <a:ext cx="59195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79" dirty="0">
                <a:latin typeface="Times New Roman" panose="02020603050405020304" pitchFamily="18" charset="0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460" y="3166526"/>
            <a:ext cx="313759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29" dirty="0">
                <a:latin typeface="Times New Roman" panose="02020603050405020304" pitchFamily="18" charset="0"/>
              </a:rPr>
              <a:t>Easier database expansion.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460" y="3597056"/>
            <a:ext cx="424449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47" dirty="0">
                <a:latin typeface="Times New Roman" panose="02020603050405020304" pitchFamily="18" charset="0"/>
              </a:rPr>
              <a:t>Supported by the Conceptual Level.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5290" y="3583871"/>
            <a:ext cx="11541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dirty="0">
                <a:latin typeface="Times New Roman" panose="02020603050405020304" pitchFamily="18" charset="0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460" y="4029491"/>
            <a:ext cx="133690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2000" b="1" spc="-75" dirty="0">
                <a:latin typeface="Times New Roman" panose="02020603050405020304" pitchFamily="18" charset="0"/>
              </a:rPr>
              <a:t>Examples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09530" y="4132511"/>
            <a:ext cx="71519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1" dirty="0">
                <a:latin typeface="Times New Roman" panose="02020603050405020304" pitchFamily="18" charset="0"/>
              </a:rPr>
              <a:t>Student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460" y="4463196"/>
            <a:ext cx="264174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5" dirty="0">
                <a:latin typeface="Times New Roman" panose="02020603050405020304" pitchFamily="18" charset="0"/>
              </a:rPr>
              <a:t>Adding Email column.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2080" y="4406831"/>
            <a:ext cx="738664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0" dirty="0">
                <a:latin typeface="Times New Roman" panose="02020603050405020304" pitchFamily="18" charset="0"/>
              </a:rPr>
              <a:t>---------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20680" y="4682421"/>
            <a:ext cx="22057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90" dirty="0">
                <a:latin typeface="Times New Roman" panose="02020603050405020304" pitchFamily="18" charset="0"/>
              </a:rPr>
              <a:t>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460" y="4892457"/>
            <a:ext cx="3497752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50" dirty="0">
                <a:latin typeface="Times New Roman" panose="02020603050405020304" pitchFamily="18" charset="0"/>
              </a:rPr>
              <a:t>Creating a new Student table.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92080" y="4956741"/>
            <a:ext cx="59195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79" dirty="0">
                <a:latin typeface="Times New Roman" panose="02020603050405020304" pitchFamily="18" charset="0"/>
              </a:rPr>
              <a:t>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460" y="5325526"/>
            <a:ext cx="296555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-6" dirty="0">
                <a:latin typeface="Times New Roman" panose="02020603050405020304" pitchFamily="18" charset="0"/>
              </a:rPr>
              <a:t>Adding new relationships.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42880" y="5231061"/>
            <a:ext cx="50141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78" dirty="0">
                <a:latin typeface="Times New Roman" panose="02020603050405020304" pitchFamily="18" charset="0"/>
              </a:rPr>
              <a:t>Email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23413" y="455078"/>
            <a:ext cx="7476277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22" dirty="0">
                <a:latin typeface="Times New Roman" panose="02020603050405020304" pitchFamily="18" charset="0"/>
              </a:rPr>
              <a:t>Significance of Data Independence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59" y="1750477"/>
            <a:ext cx="401686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2000" b="1" spc="-17" dirty="0">
                <a:latin typeface="Times New Roman" panose="02020603050405020304" pitchFamily="18" charset="0"/>
              </a:rPr>
              <a:t>Importance of Data Independence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59" y="2180372"/>
            <a:ext cx="334707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73" dirty="0">
                <a:latin typeface="Times New Roman" panose="02020603050405020304" pitchFamily="18" charset="0"/>
              </a:rPr>
              <a:t>Reduces maintenance cost.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59" y="2612807"/>
            <a:ext cx="333841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10" dirty="0">
                <a:latin typeface="Times New Roman" panose="02020603050405020304" pitchFamily="18" charset="0"/>
              </a:rPr>
              <a:t>Improves database flexibility.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59" y="3475772"/>
            <a:ext cx="406713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9" dirty="0">
                <a:latin typeface="Times New Roman" panose="02020603050405020304" pitchFamily="18" charset="0"/>
              </a:rPr>
              <a:t>Protects application programs from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818960"/>
            <a:ext cx="99841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spc="106" dirty="0">
                <a:latin typeface="Times New Roman" panose="02020603050405020304" pitchFamily="18" charset="0"/>
              </a:rPr>
              <a:t>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197" y="4256602"/>
            <a:ext cx="4565949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58" dirty="0">
                <a:latin typeface="Times New Roman" panose="02020603050405020304" pitchFamily="18" charset="0"/>
              </a:rPr>
              <a:t>Makes database management more efficient.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455981"/>
              </p:ext>
            </p:extLst>
          </p:nvPr>
        </p:nvGraphicFramePr>
        <p:xfrm>
          <a:off x="6003925" y="1835149"/>
          <a:ext cx="6197600" cy="272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9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>
                        <a:lnSpc>
                          <a:spcPts val="129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6360" algn="l">
                        <a:lnSpc>
                          <a:spcPts val="1800"/>
                        </a:lnSpc>
                      </a:pPr>
                      <a:r>
                        <a:rPr sz="1800" spc="-17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Physical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9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7630" algn="l">
                        <a:lnSpc>
                          <a:spcPts val="1800"/>
                        </a:lnSpc>
                      </a:pPr>
                      <a:r>
                        <a:rPr sz="1800" spc="29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Logical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>
                        <a:lnSpc>
                          <a:spcPts val="129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6360" algn="l">
                        <a:lnSpc>
                          <a:spcPts val="1800"/>
                        </a:lnSpc>
                      </a:pPr>
                      <a:r>
                        <a:rPr sz="1800" spc="-4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Internal Level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9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7630" algn="l">
                        <a:lnSpc>
                          <a:spcPts val="1800"/>
                        </a:lnSpc>
                      </a:pPr>
                      <a:r>
                        <a:rPr sz="1800" spc="58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Conceptual Level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>
                        <a:lnSpc>
                          <a:spcPts val="129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6360" algn="l">
                        <a:lnSpc>
                          <a:spcPts val="1800"/>
                        </a:lnSpc>
                      </a:pPr>
                      <a:r>
                        <a:rPr sz="1800" spc="76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Storage changes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9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7630" algn="l">
                        <a:lnSpc>
                          <a:spcPts val="1800"/>
                        </a:lnSpc>
                      </a:pPr>
                      <a:r>
                        <a:rPr sz="1800" spc="96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Schema changes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6360" algn="l">
                        <a:lnSpc>
                          <a:spcPts val="1800"/>
                        </a:lnSpc>
                      </a:pPr>
                      <a:r>
                        <a:rPr sz="1800" spc="-8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Faster implementation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7630" algn="l">
                        <a:lnSpc>
                          <a:spcPts val="1800"/>
                        </a:lnSpc>
                      </a:pPr>
                      <a:r>
                        <a:rPr sz="1800" spc="-28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More difficult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6360" algn="l">
                        <a:lnSpc>
                          <a:spcPts val="1800"/>
                        </a:lnSpc>
                      </a:pPr>
                      <a:r>
                        <a:rPr sz="1800" spc="57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No application changes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7630" algn="l">
                        <a:lnSpc>
                          <a:spcPts val="1800"/>
                        </a:lnSpc>
                      </a:pPr>
                      <a:r>
                        <a:rPr sz="1800" spc="29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No user view changes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80059" y="3045876"/>
            <a:ext cx="380155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7" dirty="0">
                <a:latin typeface="Times New Roman" panose="02020603050405020304" pitchFamily="18" charset="0"/>
              </a:rPr>
              <a:t>Supports future database growth.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6730" y="934084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20322" y="2036008"/>
            <a:ext cx="9005414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 spc="-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Q4. Deliver a technical presentation on the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0322" y="2645608"/>
            <a:ext cx="9345635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 spc="-92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 of a DBMS, explaining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0322" y="3255843"/>
            <a:ext cx="8547468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 spc="-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Processor, Storage Manager, and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0322" y="3862268"/>
            <a:ext cx="4511620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 spc="-1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58701" y="367864"/>
            <a:ext cx="7318285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DBMS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85097"/>
            <a:ext cx="364260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2000" b="1" spc="-6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 of DBMS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14992"/>
            <a:ext cx="491718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consists of several software modules.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8270" y="2562791"/>
            <a:ext cx="39446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8697"/>
            <a:ext cx="480195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module performs a specific function.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8610" y="2837111"/>
            <a:ext cx="183384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81767"/>
            <a:ext cx="5651612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components work together to process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05720" y="3111430"/>
            <a:ext cx="63017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8610" y="3385751"/>
            <a:ext cx="183384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026"/>
            <a:ext cx="462402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3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ensure efficient data management.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1840" y="3660071"/>
            <a:ext cx="189064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7260" y="3934391"/>
            <a:ext cx="143308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│    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44096"/>
            <a:ext cx="555350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important components are Query Processor,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4540" y="4209981"/>
            <a:ext cx="173348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QP   SM    TM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145" y="4513342"/>
            <a:ext cx="509068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Manager, and Transaction Manager.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7130" y="4964361"/>
            <a:ext cx="258788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b="1" spc="7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(QP = Query Processor,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130" y="5238681"/>
            <a:ext cx="248439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b="1" spc="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 = Storage Manager,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900" y="5514271"/>
            <a:ext cx="198907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b="1" spc="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 = Transaction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7130" y="5788591"/>
            <a:ext cx="104188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b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41370" y="523439"/>
            <a:ext cx="3415359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850" y="1870492"/>
            <a:ext cx="366863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SQL queries from users.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50" y="2300386"/>
            <a:ext cx="353045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syntax and semantics.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1410" y="2410391"/>
            <a:ext cx="105413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50" y="2733457"/>
            <a:ext cx="318580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query execution.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9270" y="2685981"/>
            <a:ext cx="18453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8270" y="2960301"/>
            <a:ext cx="53553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850" y="3166526"/>
            <a:ext cx="348492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execution plan.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9270" y="3234621"/>
            <a:ext cx="18453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50" y="3597056"/>
            <a:ext cx="408611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requested data efficiently.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3480" y="3508941"/>
            <a:ext cx="88883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9270" y="3783261"/>
            <a:ext cx="18453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850" y="4029491"/>
            <a:ext cx="130593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2000" b="1" spc="-1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057580"/>
            <a:ext cx="93153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850" y="4463196"/>
            <a:ext cx="146206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Parser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850" y="4892457"/>
            <a:ext cx="204254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Optimizer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850" y="5325526"/>
            <a:ext cx="216501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Engine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24411" y="215662"/>
            <a:ext cx="3740448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793" y="1838741"/>
            <a:ext cx="407284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physical storage of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793" y="2328742"/>
            <a:ext cx="350294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and writes data blocks.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1690" y="2483415"/>
            <a:ext cx="127599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793" y="2778596"/>
            <a:ext cx="306231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indexes and files.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0760" y="3032691"/>
            <a:ext cx="95615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91470" y="3307011"/>
            <a:ext cx="18453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328" y="3242090"/>
            <a:ext cx="3673891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disk space efficiently.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1500" y="3581330"/>
            <a:ext cx="169918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393" y="3691944"/>
            <a:ext cx="331943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data storage.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25710" y="3855651"/>
            <a:ext cx="74443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38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4129971"/>
            <a:ext cx="106317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Buffers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806" y="4172921"/>
            <a:ext cx="170110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2000" b="1" spc="-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5070" y="4704496"/>
            <a:ext cx="173380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5070" y="5134392"/>
            <a:ext cx="198650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5070" y="5567462"/>
            <a:ext cx="273465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 Manager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4274" y="422909"/>
            <a:ext cx="4438395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5070" y="2081947"/>
            <a:ext cx="3596882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database transactions.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80600" y="2191951"/>
            <a:ext cx="40523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5070" y="2481362"/>
            <a:ext cx="285815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ACID properties.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9680" y="2466271"/>
            <a:ext cx="183384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9440" y="2740591"/>
            <a:ext cx="104663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5070" y="2884586"/>
            <a:ext cx="463716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commit and rollback operations.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39680" y="3014911"/>
            <a:ext cx="183384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5070" y="3287176"/>
            <a:ext cx="324492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data consistency.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7710" y="3289230"/>
            <a:ext cx="90948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7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4400" y="3564821"/>
            <a:ext cx="74315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3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5070" y="3685956"/>
            <a:ext cx="370056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concurrent user access.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2000" y="3839141"/>
            <a:ext cx="88434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  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5070" y="4088546"/>
            <a:ext cx="2033762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2000" b="1" spc="-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 Properties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3920" y="4113461"/>
            <a:ext cx="80483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3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 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9400" y="4387781"/>
            <a:ext cx="169790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 Rollback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5070" y="4491136"/>
            <a:ext cx="131183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5070" y="4890552"/>
            <a:ext cx="158562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5070" y="5293776"/>
            <a:ext cx="113223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5070" y="5695732"/>
            <a:ext cx="124393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3417" y="2275279"/>
            <a:ext cx="8991436" cy="6771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4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Q5. Prepare a presentation comparing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789" y="2829461"/>
            <a:ext cx="9240735" cy="6771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4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and weak entities in ER modeling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8499" y="3471306"/>
            <a:ext cx="5779852" cy="6771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400" b="1" spc="-1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real-world examples.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19300" y="266879"/>
            <a:ext cx="6867521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Strong and Weak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6821" y="286256"/>
            <a:ext cx="1372299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3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50" y="2314992"/>
            <a:ext cx="4507901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b="1" spc="-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and Weak Entities in ER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" y="2748697"/>
            <a:ext cx="596650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000" b="1" spc="-1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Entity</a:t>
            </a:r>
            <a:r>
              <a:rPr sz="2000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real-world object in a database.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03510" y="2928551"/>
            <a:ext cx="67807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850" y="3181767"/>
            <a:ext cx="555190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are classified into</a:t>
            </a:r>
            <a:r>
              <a:rPr sz="2000" b="1" spc="-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</a:t>
            </a:r>
            <a:r>
              <a:rPr sz="2000" spc="8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000" b="1"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Weak</a:t>
            </a:r>
            <a:r>
              <a:rPr sz="20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18714" y="3225541"/>
            <a:ext cx="183384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850" y="3611026"/>
            <a:ext cx="4610621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entities have their own primary key.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0261" y="3521917"/>
            <a:ext cx="246028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───────┴───────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50" y="4044096"/>
            <a:ext cx="616617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2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entities depend on strong entities for identification.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2030" y="3764914"/>
            <a:ext cx="264078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       </a:t>
            </a:r>
            <a:r>
              <a:rPr lang="en-IN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850" y="4477167"/>
            <a:ext cx="575875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diagrams use different symbols to represent them.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1338" y="4090149"/>
            <a:ext cx="319260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   </a:t>
            </a:r>
            <a:r>
              <a:rPr lang="en-IN" spc="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pc="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</a:t>
            </a:r>
            <a:r>
              <a:rPr lang="en-IN" spc="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Entity</a:t>
            </a:r>
            <a:r>
              <a:rPr spc="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9049" y="527447"/>
            <a:ext cx="2560573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2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42882"/>
            <a:ext cx="291368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its own</a:t>
            </a:r>
            <a:r>
              <a:rPr sz="2000" b="1" spc="-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Primary Key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3412"/>
            <a:ext cx="4216411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Exists independently in the 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0440" y="2462461"/>
            <a:ext cx="92384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1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06482"/>
            <a:ext cx="321004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uniquely identified.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1020" y="2736781"/>
            <a:ext cx="213225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┌───────────┐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6300" y="3011101"/>
            <a:ext cx="133934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Student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38917"/>
            <a:ext cx="5618782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by a</a:t>
            </a:r>
            <a:r>
              <a:rPr sz="2000" b="1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 rectangle</a:t>
            </a:r>
            <a:r>
              <a:rPr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ER diagrams.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1020" y="3285421"/>
            <a:ext cx="213225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└───────────┘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0290" y="3561011"/>
            <a:ext cx="100226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  |   \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69446"/>
            <a:ext cx="453637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the parent entity in relationships.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4340" y="3835330"/>
            <a:ext cx="177843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2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sz="180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02517"/>
            <a:ext cx="99065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5060" y="4109651"/>
            <a:ext cx="50141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34952"/>
            <a:ext cx="114018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64846"/>
            <a:ext cx="141782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97917"/>
            <a:ext cx="136531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30986"/>
            <a:ext cx="115910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2945" y="373579"/>
            <a:ext cx="2448042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850" y="1594901"/>
            <a:ext cx="450296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sz="2000" b="1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</a:t>
            </a:r>
            <a:r>
              <a:rPr sz="2000" spc="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a complete primary key.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50" y="2024797"/>
            <a:ext cx="4986558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a strong entity for identification.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7930" y="2308791"/>
            <a:ext cx="229627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┌────────────┐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50" y="2457867"/>
            <a:ext cx="378949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</a:t>
            </a:r>
            <a:r>
              <a:rPr sz="2000" b="1" spc="-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partial key (discriminator)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8440" y="2582476"/>
            <a:ext cx="175022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2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 EMPLOYEE  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50" y="2890936"/>
            <a:ext cx="414453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by a</a:t>
            </a:r>
            <a:r>
              <a:rPr sz="2000" b="1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double rectangle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7930" y="2857431"/>
            <a:ext cx="229627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└────────────┘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3800" y="3131751"/>
            <a:ext cx="18453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50" y="3320832"/>
            <a:ext cx="518462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72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through an</a:t>
            </a:r>
            <a:r>
              <a:rPr sz="2000" b="1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identifying relationship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11030" y="3406071"/>
            <a:ext cx="82715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50" y="3753267"/>
            <a:ext cx="214026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3800" y="3680391"/>
            <a:ext cx="18453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7930" y="3954711"/>
            <a:ext cx="229627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╔════════════╗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850" y="4186972"/>
            <a:ext cx="3026791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5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→ Dependent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7960" y="4229031"/>
            <a:ext cx="181158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║ DEPENDENT 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7930" y="4503351"/>
            <a:ext cx="229627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╚════════════╝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6310" y="4593074"/>
            <a:ext cx="3228641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400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Attributes</a:t>
            </a:r>
            <a:r>
              <a:rPr sz="1800" spc="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6310" y="4949681"/>
            <a:ext cx="1886414" cy="2923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900" spc="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1900" spc="2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Dependent_Name</a:t>
            </a:r>
            <a:endParaRPr sz="1900" spc="2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766310" y="5239241"/>
            <a:ext cx="518347" cy="2923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90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6310" y="5528801"/>
            <a:ext cx="1319528" cy="2923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9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•Relationship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30625" y="538578"/>
            <a:ext cx="7353808" cy="64633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200" b="1" spc="-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Strong and Weak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4433" y="524558"/>
            <a:ext cx="1433534" cy="64633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200" b="1" spc="-3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540520"/>
              </p:ext>
            </p:extLst>
          </p:nvPr>
        </p:nvGraphicFramePr>
        <p:xfrm>
          <a:off x="1348105" y="2120901"/>
          <a:ext cx="9495789" cy="39052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4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8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2780">
                <a:tc>
                  <a:txBody>
                    <a:bodyPr/>
                    <a:lstStyle/>
                    <a:p>
                      <a:pPr>
                        <a:lnSpc>
                          <a:spcPts val="171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5090" algn="l">
                        <a:lnSpc>
                          <a:spcPts val="1800"/>
                        </a:lnSpc>
                      </a:pPr>
                      <a:r>
                        <a:rPr sz="1800" spc="-4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Strong Entity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1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6360" algn="l">
                        <a:lnSpc>
                          <a:spcPts val="1800"/>
                        </a:lnSpc>
                      </a:pPr>
                      <a:r>
                        <a:rPr sz="1800" spc="-3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Weak Entity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>
                        <a:lnSpc>
                          <a:spcPts val="172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5090" algn="l">
                        <a:lnSpc>
                          <a:spcPts val="1800"/>
                        </a:lnSpc>
                      </a:pPr>
                      <a:r>
                        <a:rPr sz="1800" spc="-54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Has Primary Key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2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6360" algn="l">
                        <a:lnSpc>
                          <a:spcPts val="1800"/>
                        </a:lnSpc>
                      </a:pPr>
                      <a:r>
                        <a:rPr sz="1800" spc="-43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No Primary Key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779">
                <a:tc>
                  <a:txBody>
                    <a:bodyPr/>
                    <a:lstStyle/>
                    <a:p>
                      <a:pPr>
                        <a:lnSpc>
                          <a:spcPts val="171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5090" algn="l">
                        <a:lnSpc>
                          <a:spcPts val="1800"/>
                        </a:lnSpc>
                      </a:pPr>
                      <a:r>
                        <a:rPr sz="1800" spc="52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Independent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1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6360" algn="l">
                        <a:lnSpc>
                          <a:spcPts val="1800"/>
                        </a:lnSpc>
                      </a:pPr>
                      <a:r>
                        <a:rPr sz="1800" spc="2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Depends on Strong Entity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779">
                <a:tc>
                  <a:txBody>
                    <a:bodyPr/>
                    <a:lstStyle/>
                    <a:p>
                      <a:pPr>
                        <a:lnSpc>
                          <a:spcPts val="171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5090" algn="l">
                        <a:lnSpc>
                          <a:spcPts val="1800"/>
                        </a:lnSpc>
                      </a:pPr>
                      <a:r>
                        <a:rPr sz="1800" spc="44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Single Rectangle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1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6360" algn="l">
                        <a:lnSpc>
                          <a:spcPts val="1800"/>
                        </a:lnSpc>
                      </a:pPr>
                      <a:r>
                        <a:rPr sz="1800" spc="66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Double Rectangle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>
                        <a:lnSpc>
                          <a:spcPts val="172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5090" algn="l">
                        <a:lnSpc>
                          <a:spcPts val="1800"/>
                        </a:lnSpc>
                      </a:pPr>
                      <a:r>
                        <a:rPr sz="1800" spc="-6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Exists Alone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2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6360" algn="l">
                        <a:lnSpc>
                          <a:spcPts val="1800"/>
                        </a:lnSpc>
                      </a:pPr>
                      <a:r>
                        <a:rPr sz="1800" spc="-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Cannot Exist Alone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>
                        <a:lnSpc>
                          <a:spcPts val="172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5090" algn="l">
                        <a:lnSpc>
                          <a:spcPts val="1800"/>
                        </a:lnSpc>
                      </a:pPr>
                      <a:r>
                        <a:rPr sz="1800" spc="6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Example: Student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20"/>
                        </a:lnSpc>
                      </a:pP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marL="86360" algn="l">
                        <a:lnSpc>
                          <a:spcPts val="1800"/>
                        </a:lnSpc>
                      </a:pPr>
                      <a:r>
                        <a:rPr sz="1800" spc="43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Example: Dependent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48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15120" y="949255"/>
            <a:ext cx="115948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230" y="1086902"/>
            <a:ext cx="115288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IN" sz="20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sz="2000" b="1" spc="-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56040" y="1224211"/>
            <a:ext cx="213058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3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┌───────────┐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230" y="1516797"/>
            <a:ext cx="4413196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entities uniquely identify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3680" y="1498531"/>
            <a:ext cx="167892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  <a:r>
              <a:rPr sz="1800" spc="3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sz="1800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6040" y="1772851"/>
            <a:ext cx="213058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3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└───────────┘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230" y="1949866"/>
            <a:ext cx="4002442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entities rely on owner entities.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51110" y="2047171"/>
            <a:ext cx="183384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230" y="2382936"/>
            <a:ext cx="499624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improve accurate database modeling.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6480" y="2321491"/>
            <a:ext cx="217367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Relationship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1110" y="2595811"/>
            <a:ext cx="183384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230" y="2813467"/>
            <a:ext cx="4130361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diagrams clearly distinguish both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1060" y="2870131"/>
            <a:ext cx="295696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╔════════════════╗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1750" y="3145721"/>
            <a:ext cx="206883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║ DEPENDENT   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230" y="3246536"/>
            <a:ext cx="164320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spc="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spc="2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ntity types.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1060" y="3420041"/>
            <a:ext cx="295696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╚════════════════╝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51110" y="3693726"/>
            <a:ext cx="18466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3970" y="3968680"/>
            <a:ext cx="181434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82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Dependent_Name</a:t>
            </a:r>
            <a:endParaRPr sz="1800" spc="8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907270" y="4243001"/>
            <a:ext cx="43588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6080" y="4517321"/>
            <a:ext cx="113620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630" y="4855626"/>
            <a:ext cx="156083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000" b="1" spc="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630" y="5269161"/>
            <a:ext cx="762234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entities can exist independently because they have a primary key, whereas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630" y="5543481"/>
            <a:ext cx="765427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entities depend on strong entities for identification. Together, they help create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630" y="5817801"/>
            <a:ext cx="608147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efficient ER models for real-world database systems.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40386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9250"/>
            <a:ext cx="1524000" cy="236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0" y="1676400"/>
            <a:ext cx="282575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650" y="0"/>
            <a:ext cx="16129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250" y="6089650"/>
            <a:ext cx="996950" cy="768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56560" y="2712482"/>
            <a:ext cx="6006452" cy="123110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8000" b="1" spc="-5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1315</Words>
  <Application>Microsoft Office PowerPoint</Application>
  <PresentationFormat>Widescreen</PresentationFormat>
  <Paragraphs>382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 Display</vt:lpstr>
      <vt:lpstr>Arial</vt:lpstr>
      <vt:lpstr>Noto Sans Symbols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SANJAY KUMAR P</dc:creator>
  <cp:keywords/>
  <dc:description>generated using python-pptx</dc:description>
  <cp:lastModifiedBy>SANJAY KUMAR P</cp:lastModifiedBy>
  <cp:revision>4</cp:revision>
  <dcterms:created xsi:type="dcterms:W3CDTF">2013-01-27T09:14:16Z</dcterms:created>
  <dcterms:modified xsi:type="dcterms:W3CDTF">2026-07-23T04:53:31Z</dcterms:modified>
  <cp:category/>
</cp:coreProperties>
</file>